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f7ed59f8347da" /><Relationship Type="http://schemas.openxmlformats.org/officeDocument/2006/relationships/extended-properties" Target="/docProps/app.xml" Id="R3dfe11ecc2e54fd6" /><Relationship Type="http://schemas.openxmlformats.org/officeDocument/2006/relationships/officeDocument" Target="/ppt/presentation.xml" Id="R8bb001db27f3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ab15b06cd46db"/>
  </p:sldMasterIdLst>
  <p:notesMasterIdLst>
    <p:notesMasterId xmlns:r="http://schemas.openxmlformats.org/officeDocument/2006/relationships" r:id="R02cdf24470bc43b2"/>
  </p:notesMasterIdLst>
  <p:sldIdLst>
    <p:sldId xmlns:r="http://schemas.openxmlformats.org/officeDocument/2006/relationships" id="256" r:id="Rf81b3c5e235b4829"/>
    <p:sldId xmlns:r="http://schemas.openxmlformats.org/officeDocument/2006/relationships" id="257" r:id="R55a10d54d8294474"/>
    <p:sldId xmlns:r="http://schemas.openxmlformats.org/officeDocument/2006/relationships" id="258" r:id="Rba8e9c2b59a2445e"/>
    <p:sldId xmlns:r="http://schemas.openxmlformats.org/officeDocument/2006/relationships" id="259" r:id="R29d4c4b3b82d4789"/>
    <p:sldId xmlns:r="http://schemas.openxmlformats.org/officeDocument/2006/relationships" id="260" r:id="Raf50379d5fcd48d9"/>
    <p:sldId xmlns:r="http://schemas.openxmlformats.org/officeDocument/2006/relationships" id="261" r:id="R6bafa0dec88e47d8"/>
    <p:sldId xmlns:r="http://schemas.openxmlformats.org/officeDocument/2006/relationships" id="262" r:id="Re22a9d0011654f2b"/>
    <p:sldId xmlns:r="http://schemas.openxmlformats.org/officeDocument/2006/relationships" id="263" r:id="Recc26234f3e54d09"/>
    <p:sldId xmlns:r="http://schemas.openxmlformats.org/officeDocument/2006/relationships" id="264" r:id="R98ca732258f540b8"/>
    <p:sldId xmlns:r="http://schemas.openxmlformats.org/officeDocument/2006/relationships" id="265" r:id="R704c369a3e684f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b153e778f4a01" /><Relationship Type="http://schemas.openxmlformats.org/officeDocument/2006/relationships/slideMaster" Target="/ppt/slideMasters/slideMaster1.xml" Id="Rcecab15b06cd46db" /><Relationship Type="http://schemas.openxmlformats.org/officeDocument/2006/relationships/notesMaster" Target="/ppt/notesMasters/notesMaster1.xml" Id="R02cdf24470bc43b2" /><Relationship Type="http://schemas.openxmlformats.org/officeDocument/2006/relationships/presProps" Target="/ppt/presProps.xml" Id="Ra1ef11b362e143d0" /><Relationship Type="http://schemas.openxmlformats.org/officeDocument/2006/relationships/tableStyles" Target="/ppt/tableStyles.xml" Id="Rc853b0e9894f4e49" /><Relationship Type="http://schemas.openxmlformats.org/officeDocument/2006/relationships/slide" Target="/ppt/slides/slide1.xml" Id="Rf81b3c5e235b4829" /><Relationship Type="http://schemas.openxmlformats.org/officeDocument/2006/relationships/slide" Target="/ppt/slides/slide2.xml" Id="R55a10d54d8294474" /><Relationship Type="http://schemas.openxmlformats.org/officeDocument/2006/relationships/slide" Target="/ppt/slides/slide3.xml" Id="Rba8e9c2b59a2445e" /><Relationship Type="http://schemas.openxmlformats.org/officeDocument/2006/relationships/slide" Target="/ppt/slides/slide4.xml" Id="R29d4c4b3b82d4789" /><Relationship Type="http://schemas.openxmlformats.org/officeDocument/2006/relationships/slide" Target="/ppt/slides/slide5.xml" Id="Raf50379d5fcd48d9" /><Relationship Type="http://schemas.openxmlformats.org/officeDocument/2006/relationships/slide" Target="/ppt/slides/slide6.xml" Id="R6bafa0dec88e47d8" /><Relationship Type="http://schemas.openxmlformats.org/officeDocument/2006/relationships/slide" Target="/ppt/slides/slide7.xml" Id="Re22a9d0011654f2b" /><Relationship Type="http://schemas.openxmlformats.org/officeDocument/2006/relationships/slide" Target="/ppt/slides/slide8.xml" Id="Recc26234f3e54d09" /><Relationship Type="http://schemas.openxmlformats.org/officeDocument/2006/relationships/slide" Target="/ppt/slides/slide9.xml" Id="R98ca732258f540b8" /><Relationship Type="http://schemas.openxmlformats.org/officeDocument/2006/relationships/slide" Target="/ppt/slides/slide10.xml" Id="R704c369a3e684f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5af49045d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467383d524da7" /><Relationship Type="http://schemas.openxmlformats.org/officeDocument/2006/relationships/notesMaster" Target="/ppt/notesMasters/notesMaster1.xml" Id="R8ea72e9832684c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5352e8668b4bf9" /><Relationship Type="http://schemas.openxmlformats.org/officeDocument/2006/relationships/notesMaster" Target="/ppt/notesMasters/notesMaster1.xml" Id="R828c28c7e3764d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3acbfa4b0411a" /><Relationship Type="http://schemas.openxmlformats.org/officeDocument/2006/relationships/notesMaster" Target="/ppt/notesMasters/notesMaster1.xml" Id="R21d0443582b4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358eee43e04bc1" /><Relationship Type="http://schemas.openxmlformats.org/officeDocument/2006/relationships/notesMaster" Target="/ppt/notesMasters/notesMaster1.xml" Id="R416c290e74fd4c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cbca04a7b4fa6" /><Relationship Type="http://schemas.openxmlformats.org/officeDocument/2006/relationships/notesMaster" Target="/ppt/notesMasters/notesMaster1.xml" Id="R7ad53a12524344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b7b3460c724864" /><Relationship Type="http://schemas.openxmlformats.org/officeDocument/2006/relationships/notesMaster" Target="/ppt/notesMasters/notesMaster1.xml" Id="Rf776a70d50cf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5eb371df44f3a" /><Relationship Type="http://schemas.openxmlformats.org/officeDocument/2006/relationships/notesMaster" Target="/ppt/notesMasters/notesMaster1.xml" Id="R8a9cdca5694745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861b3eddb45f6" /><Relationship Type="http://schemas.openxmlformats.org/officeDocument/2006/relationships/notesMaster" Target="/ppt/notesMasters/notesMaster1.xml" Id="Ra8581716c2d34b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ba91a922d9458d" /><Relationship Type="http://schemas.openxmlformats.org/officeDocument/2006/relationships/notesMaster" Target="/ppt/notesMasters/notesMaster1.xml" Id="R17b638561bc848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2f6aba144d45b8" /><Relationship Type="http://schemas.openxmlformats.org/officeDocument/2006/relationships/notesMaster" Target="/ppt/notesMasters/notesMaster1.xml" Id="R5cbf7f38986348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goal: infer room occupancy, explain control requests, and estimate energy under stated assumptions. The dataset contains no measured electricity labels. Source: UCI Room Occupancy Estimation, https://doi.org/10.24432/C5P605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GA is offline feature selection, not a component run on every reading. Fuzzy inputs are predicted occupancy, S1 temperature, S1 light and S5 CO2. Sources: src/occupancy_system.py, src/fuzzy_controller.py, src/energy_controller.py.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empty-class fraction is 8228/10129 = 81.23%. No missing values or duplicate timestamps were found. Raw data are preserved and all rows retained. Aggregates were created for exploration; direct sensor channels form the baseline. Source: outputs/tables and docs/phase2_protocol.json.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class imbalance using the always-empty classifier. Class 1 is absent in the later test, so test balanced accuracy concerns three present classes. The test data were already examined and are not a new blind test. Source: outputs/phase4/tables/professor_comparison.csv and occupancy_error_analysis.csv.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population 16, tournament selection, one-point crossover, bit mutation, 10 generations and 3 seeds. Fitness uses purged within-training-day blocks; this tests interpolation, not forecasting. The complete controller also needs S1_Temp, giving five channels. Baseline stays the default. Sources: docs/phase3_notes.md, models/phase3/selection_locked.json.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membership degrees versus probability. The fuzzy rules map gradual conditions to gradual requests. A fuzzy off set has a positive centroid; a separate zero-occupancy gate makes lighting exactly zero. Membership thresholds are illustrative project assumptions, not health or ventilation standards. Source: config/phase5_fuzzy.json.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 uses CO2, occupancy and temperature thresholds; adaptive means rule-based response, not online learning. Requests scale power linearly. No HVAC, standby, controller or sensor power is included. Source: config/phase6_energy.json and docs/phase6_notes.md.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have identical AUTO energy on the test replay because their remaining differences fall in the same high-occupancy fuzzy region. The true-label reference uses known labels and is not deployable or optimal. Source: outputs/phase6/tables/energy_summary.csv, test AUTO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dashboard manual mode for the three teaching scenarios: it bypasses the classifier. Then use GA or baseline with later-test example 1, whose actual occupancy is three but the model predicts zero. Explain the distinction between an implementation test and predictive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Conclude: the contribution is an integrated, explainable academic system with transparent evaluation. It is not a validated building controller. Run src/verify_phase7.py for integration checks. Read docs/phase7_notes.md and docs/presentation_guide.md for the complete demo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4a0c2831d41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5c1b8e82e46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1a454368f42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cc2c4fd104e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536e2553248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9d1ce106e44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A9B270-46AA-460F-8114-83E919E2AC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77E268-BB5A-4257-8384-906C8091BC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0D3C86-B6F3-4D68-B634-9104A7650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2635F8-5A34-4D07-8F9D-32B73893A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424DC1-1C0F-44B8-B716-0A44432B6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A190E8-6478-4369-9604-944153076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A18E8E-623F-41ED-9D2A-98181D6AC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732C71-45BE-43A8-8E86-7985E492E1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2BCF9B-CB08-4D8C-B6C5-9252865F5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7B37F3-D272-4FD8-99DA-6CD5EFDB3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37119afc394971" /><Relationship Type="http://schemas.openxmlformats.org/officeDocument/2006/relationships/slideLayout" Target="/ppt/slideLayouts/slideLayout1.xml" Id="R1977fd2cb75c44f2" /><Relationship Type="http://schemas.openxmlformats.org/officeDocument/2006/relationships/slideLayout" Target="/ppt/slideLayouts/slideLayout2.xml" Id="R5f8b01ce95e7478e" /><Relationship Type="http://schemas.openxmlformats.org/officeDocument/2006/relationships/slideLayout" Target="/ppt/slideLayouts/slideLayout3.xml" Id="Rda1ba23321554f88" /><Relationship Type="http://schemas.openxmlformats.org/officeDocument/2006/relationships/slideLayout" Target="/ppt/slideLayouts/slideLayout4.xml" Id="R70fb3c4ca63d4b2e" /><Relationship Type="http://schemas.openxmlformats.org/officeDocument/2006/relationships/slideLayout" Target="/ppt/slideLayouts/slideLayout5.xml" Id="R6fa925cad74948a1" /><Relationship Type="http://schemas.openxmlformats.org/officeDocument/2006/relationships/slideLayout" Target="/ppt/slideLayouts/slideLayout6.xml" Id="R367e91f33568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7fd2cb75c44f2"/>
    <p:sldLayoutId xmlns:r="http://schemas.openxmlformats.org/officeDocument/2006/relationships" id="2147483650" r:id="R5f8b01ce95e7478e"/>
    <p:sldLayoutId xmlns:r="http://schemas.openxmlformats.org/officeDocument/2006/relationships" id="2147483651" r:id="Rda1ba23321554f88"/>
    <p:sldLayoutId xmlns:r="http://schemas.openxmlformats.org/officeDocument/2006/relationships" id="2147483652" r:id="R70fb3c4ca63d4b2e"/>
    <p:sldLayoutId xmlns:r="http://schemas.openxmlformats.org/officeDocument/2006/relationships" id="2147483653" r:id="R6fa925cad74948a1"/>
    <p:sldLayoutId xmlns:r="http://schemas.openxmlformats.org/officeDocument/2006/relationships" id="2147483654" r:id="R367e91f33568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c2f2ef77c4571" /><Relationship Type="http://schemas.openxmlformats.org/officeDocument/2006/relationships/notesSlide" Target="/ppt/notesSlides/notesSlide1.xml" Id="R66030b6f48c1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9acc1fa464c5a" /><Relationship Type="http://schemas.openxmlformats.org/officeDocument/2006/relationships/notesSlide" Target="/ppt/notesSlides/notesSlide2.xml" Id="Rff2a929226e7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f3021269c4bff" /><Relationship Type="http://schemas.openxmlformats.org/officeDocument/2006/relationships/notesSlide" Target="/ppt/notesSlides/notesSlide3.xml" Id="R0ff89e28e392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106a8346b4cf6" /><Relationship Type="http://schemas.openxmlformats.org/officeDocument/2006/relationships/notesSlide" Target="/ppt/notesSlides/notesSlide4.xml" Id="R0ccdca6153aa47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18f64f4584d35" /><Relationship Type="http://schemas.openxmlformats.org/officeDocument/2006/relationships/notesSlide" Target="/ppt/notesSlides/notesSlide5.xml" Id="Ra56c2d4a18d143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4d03a496e40c3" /><Relationship Type="http://schemas.openxmlformats.org/officeDocument/2006/relationships/notesSlide" Target="/ppt/notesSlides/notesSlide6.xml" Id="Rda5ba5f5dafe4c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e81825b2843e7" /><Relationship Type="http://schemas.openxmlformats.org/officeDocument/2006/relationships/notesSlide" Target="/ppt/notesSlides/notesSlide7.xml" Id="R82fa197a691746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e6213bbad4a90" /><Relationship Type="http://schemas.openxmlformats.org/officeDocument/2006/relationships/notesSlide" Target="/ppt/notesSlides/notesSlide8.xml" Id="R6a7cf2f2bc1d46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b63575a9f4720" /><Relationship Type="http://schemas.openxmlformats.org/officeDocument/2006/relationships/notesSlide" Target="/ppt/notesSlides/notesSlide9.xml" Id="Rdf18730d0bc9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8b90aee4c4779" /><Relationship Type="http://schemas.openxmlformats.org/officeDocument/2006/relationships/notesSlide" Target="/ppt/notesSlides/notesSlide10.xml" Id="R7b419bc508cb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00ECB-6DF9-4CF8-A6CF-ED7394F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Adaptive Smart Room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Occupancy &amp; Energy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EEB0A-DD9D-4BB6-9509-C9B3AA6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reproducible Soft Computing minor project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Genetic Algorithm · Mamdani fuzzy logic · Energy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22979-4251-44CC-9499-E5ABD15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D2C3"/>
                </a:solidFill>
                <a:latin typeface="Arial"/>
                <a:ea typeface="Arial"/>
                <a:cs typeface="Arial"/>
              </a:rPr>
              <a:t>Seven phases, one explainable pipeline.</a:t>
            </a:r>
          </a:p>
          <a:p xmlns:a="http://schemas.openxmlformats.org/drawingml/2006/main">
            <a:pPr>
              <a:defRPr sz="1950" b="1">
                <a:solidFill>
                  <a:srgbClr val="A7D2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D2C3"/>
                </a:solidFill>
                <a:latin typeface="Arial"/>
                <a:ea typeface="Arial"/>
                <a:cs typeface="Arial"/>
              </a:rPr>
              <a:t>Academic prototype; no devices are actuated.</a:t>
            </a:r>
          </a:p>
        </p:txBody>
      </p:sp>
    </p:spTree>
    <p:extLst>
      <p:ext uri="{BB962C8B-B14F-4D97-AF65-F5344CB8AC3E}">
        <p14:creationId xmlns:p14="http://schemas.microsoft.com/office/powerpoint/2010/main" val="1301201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BE004-47A4-4D87-B021-6B0347B0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From sensor readings to an explainable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538A8-42E3-427F-B46B-6B913B66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Sensors → occupancy model → fuzzy controller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→ energy policy → simulated power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64833-7513-4DA4-9CA4-A1C337D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GA selects estimator inputs during development.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The dashboard runs saved models; it never retrains them.</a:t>
            </a:r>
          </a:p>
        </p:txBody>
      </p:sp>
    </p:spTree>
    <p:extLst>
      <p:ext uri="{BB962C8B-B14F-4D97-AF65-F5344CB8AC3E}">
        <p14:creationId xmlns:p14="http://schemas.microsoft.com/office/powerpoint/2010/main" val="303355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12F5C-3700-432B-8F6C-5D330A09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The dataset needs a chronological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E049-0D39-4A09-8E1E-2065A0B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10,129 observations · 19 original columns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Occupancy classes: 0, 1, 2 and 3 people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81.23% of rows describe an empty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7A0F8-726B-409F-B7F9-80EA6F9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Train: Dec 22 · Validation: Dec 23 · Later test: Dec 24 onward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Ten-minute boundary embargo; recording gaps are retained.</a:t>
            </a:r>
          </a:p>
        </p:txBody>
      </p:sp>
    </p:spTree>
    <p:extLst>
      <p:ext uri="{BB962C8B-B14F-4D97-AF65-F5344CB8AC3E}">
        <p14:creationId xmlns:p14="http://schemas.microsoft.com/office/powerpoint/2010/main" val="1073583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35321-AD4D-417A-8B58-2FCAD94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High accuracy hides occupied-room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27955-1119-4C27-BA57-802B66F1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Baseline validation macro F1: 0.8608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Later-test accuracy: 95.32%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Later-test balanced accuracy: only 38.99%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D69F3-D661-42B7-A0BE-C1D5A4B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Always-empty test accuracy: 94.99%.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Both models misclassify 184 of 294 occupied test rows as empty.</a:t>
            </a:r>
          </a:p>
        </p:txBody>
      </p:sp>
    </p:spTree>
    <p:extLst>
      <p:ext uri="{BB962C8B-B14F-4D97-AF65-F5344CB8AC3E}">
        <p14:creationId xmlns:p14="http://schemas.microsoft.com/office/powerpoint/2010/main" val="490375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5C4DC-8611-40F8-87D3-96058D30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GA trades input count against prediction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42D1-645C-4637-8007-E4ADE65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15 binary genes → 4 selected inputs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S1_Light · S5_CO2 · S6_PIR · S7_PIR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Fitness = training macro F1 − 0.05 × selected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7565B-B808-449F-A83A-57F90F5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73.33% fewer estimator inputs.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Validation macro F1 falls from 0.8608 to 0.7952.</a:t>
            </a:r>
          </a:p>
        </p:txBody>
      </p:sp>
    </p:spTree>
    <p:extLst>
      <p:ext uri="{BB962C8B-B14F-4D97-AF65-F5344CB8AC3E}">
        <p14:creationId xmlns:p14="http://schemas.microsoft.com/office/powerpoint/2010/main" val="1959722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175E-A412-41EE-92D3-715111D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Fuzzy logic makes the control request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7722-A106-4D63-8226-BE7E195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34 rules · minimum AND · maximum aggregation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Centroid defuzzification → lighting and ventilation 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2E85B-A21F-4A48-A5FA-F85DDABA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Example: high occupancy + dark room → high lighting.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Poor CO₂ quality → high ventilation, even if occupancy is zero.</a:t>
            </a:r>
          </a:p>
        </p:txBody>
      </p:sp>
    </p:spTree>
    <p:extLst>
      <p:ext uri="{BB962C8B-B14F-4D97-AF65-F5344CB8AC3E}">
        <p14:creationId xmlns:p14="http://schemas.microsoft.com/office/powerpoint/2010/main" val="1269873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03973-AABF-41B3-AE61-D265BD66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Energy results depend on explicit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505FD-BD26-416E-B3A4-8F1C314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Assumed full loads: lighting 60 W + ventilation 40 W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Energy (kWh) = power (W) × duration (s) / 3,600,000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ECO · NORMAL · COMFORT · deterministic AUTO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DFF96-DA13-4C89-99DB-875F0C83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Integrate only short recorded intervals within one partition.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Exclude gaps, embargo crossings and unknown final durations.</a:t>
            </a:r>
          </a:p>
        </p:txBody>
      </p:sp>
    </p:spTree>
    <p:extLst>
      <p:ext uri="{BB962C8B-B14F-4D97-AF65-F5344CB8AC3E}">
        <p14:creationId xmlns:p14="http://schemas.microsoft.com/office/powerpoint/2010/main" val="286684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00411-DFB3-44D4-A9B0-18939AB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Apparent energy reduction is not proof of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50E53-ECD5-4B16-983B-6C64450C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Later-test AUTO: 0.147 kWh simulated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Full-power comparator: 4.930 kWh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Covered test duration: 49.30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6B48-95BE-4641-B75F-83150DB7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But lighting is zero for 1.55 of 2.48 occupied hours.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Do not claim 97% measured savings or equivalent comfort.</a:t>
            </a:r>
          </a:p>
        </p:txBody>
      </p:sp>
    </p:spTree>
    <p:extLst>
      <p:ext uri="{BB962C8B-B14F-4D97-AF65-F5344CB8AC3E}">
        <p14:creationId xmlns:p14="http://schemas.microsoft.com/office/powerpoint/2010/main" val="2125318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B1BD-8558-4D8F-AD9A-AA185B26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Demonstrate the reasoning, then the limitation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CBBB-2D24-4BF4-A236-3EF1CB6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1  Empty + dark → exact lighting off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2  High occupancy + high CO₂ → high requests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3  Low occupancy + bright → low lighting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4  Recorded false-empty → explain the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B2956-3D00-4E82-95B9-F11518F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Open the fired rules and membership degrees.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Compare energy estimates with occupied zero-light hours.</a:t>
            </a:r>
          </a:p>
        </p:txBody>
      </p:sp>
    </p:spTree>
    <p:extLst>
      <p:ext uri="{BB962C8B-B14F-4D97-AF65-F5344CB8AC3E}">
        <p14:creationId xmlns:p14="http://schemas.microsoft.com/office/powerpoint/2010/main" val="1780777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B177E-8817-4500-8895-1379B7B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331"/>
                </a:solidFill>
                <a:latin typeface="Arial"/>
                <a:ea typeface="Arial"/>
                <a:cs typeface="Arial"/>
              </a:rPr>
              <a:t>A complete prototype, with a clear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04CD0-1858-4322-BAFA-A3AB893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Delivered: raw data, models, GA search, fuzzy rules,</a:t>
            </a:r>
          </a:p>
          <a:p xmlns:a="http://schemas.openxmlformats.org/drawingml/2006/main">
            <a:pPr>
              <a:defRPr sz="2325" b="0">
                <a:solidFill>
                  <a:srgbClr val="1833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331"/>
                </a:solidFill>
                <a:latin typeface="Arial"/>
                <a:ea typeface="Arial"/>
                <a:cs typeface="Arial"/>
              </a:rPr>
              <a:t>energy replay, local dashboard and reproducible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D381C-15A9-494A-9684-4DA7800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Next: collect new rooms and occupied examples, improve recall,</a:t>
            </a:r>
          </a:p>
          <a:p xmlns:a="http://schemas.openxmlformats.org/drawingml/2006/main">
            <a:pPr>
              <a:defRPr sz="1950" b="1">
                <a:solidFill>
                  <a:srgbClr val="1D77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775D"/>
                </a:solidFill>
                <a:latin typeface="Arial"/>
                <a:ea typeface="Arial"/>
                <a:cs typeface="Arial"/>
              </a:rPr>
              <a:t>add temporal safeguards, and measure actual load and comfort.</a:t>
            </a:r>
          </a:p>
        </p:txBody>
      </p:sp>
    </p:spTree>
    <p:extLst>
      <p:ext uri="{BB962C8B-B14F-4D97-AF65-F5344CB8AC3E}">
        <p14:creationId xmlns:p14="http://schemas.microsoft.com/office/powerpoint/2010/main" val="120598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RoomIQ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Parth Madlani</dc:creator>
  <lastModifiedBy>Parth Madlani</lastModifiedBy>
  <dc:title>RoomIQ — Adaptive Smart Room Occupancy &amp; Energy Controller</dc:title>
  <dcterms:created xsi:type="dcterms:W3CDTF">2026-10-27T08:24:40.4530000Z</dcterms:created>
  <dcterms:modified xsi:type="dcterms:W3CDTF">2026-10-27T08:24:40.4530000Z</dcterms:modified>
</coreProperties>
</file>